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jpg"/><Relationship Id="rId4" Type="http://schemas.openxmlformats.org/officeDocument/2006/relationships/image" Target="../media/image6.jpg"/><Relationship Id="rId5" Type="http://schemas.openxmlformats.org/officeDocument/2006/relationships/image" Target="../media/image7.jpg"/><Relationship Id="rId6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ree-motif-fai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48640" y="3291840"/>
            <a:ext cx="3238500" cy="4206240"/>
          </a:xfrm>
          <a:prstGeom prst="rect">
            <a:avLst/>
          </a:prstGeom>
        </p:spPr>
      </p:pic>
      <p:pic>
        <p:nvPicPr>
          <p:cNvPr id="4" name="Picture 3" descr="ring-turquoi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0" y="-1463040"/>
            <a:ext cx="3840480" cy="3840480"/>
          </a:xfrm>
          <a:prstGeom prst="rect">
            <a:avLst/>
          </a:prstGeom>
        </p:spPr>
      </p:pic>
      <p:pic>
        <p:nvPicPr>
          <p:cNvPr id="5" name="Picture 4" descr="logo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0067" y="1051560"/>
            <a:ext cx="1051560" cy="1051560"/>
          </a:xfrm>
          <a:prstGeom prst="roundRect">
            <a:avLst>
              <a:gd name="adj" fmla="val 16000"/>
            </a:avLst>
          </a:prstGeom>
        </p:spPr>
      </p:pic>
      <p:sp>
        <p:nvSpPr>
          <p:cNvPr id="6" name="TextBox 5"/>
          <p:cNvSpPr txBox="1"/>
          <p:nvPr/>
        </p:nvSpPr>
        <p:spPr>
          <a:xfrm>
            <a:off x="3840480" y="2148840"/>
            <a:ext cx="450799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rtl="1"/>
            <a:r>
              <a:rPr sz="1400" b="0" lang="he-IL">
                <a:solidFill>
                  <a:srgbClr val="61746F"/>
                </a:solidFill>
                <a:latin typeface="Rubik"/>
                <a:cs typeface="Rubik"/>
              </a:rPr>
              <a:t>בס״ד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2606040"/>
            <a:ext cx="8165592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rtl="1"/>
            <a:r>
              <a:rPr sz="5400" b="1" lang="he-IL">
                <a:solidFill>
                  <a:srgbClr val="0E2F27"/>
                </a:solidFill>
                <a:latin typeface="Rubik"/>
                <a:cs typeface="Rubik"/>
              </a:rPr>
              <a:t>נעים להכיר</a:t>
            </a:r>
          </a:p>
          <a:p>
            <a:pPr algn="ctr" rtl="1"/>
            <a:r>
              <a:rPr sz="5400" b="1" lang="he-IL">
                <a:solidFill>
                  <a:srgbClr val="12B3A0"/>
                </a:solidFill>
                <a:latin typeface="Rubik"/>
                <a:cs typeface="Rubik"/>
              </a:rPr>
              <a:t>ת״ת עץ חיים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4709160"/>
            <a:ext cx="4507992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rtl="1"/>
            <a:r>
              <a:rPr sz="1600" b="1" lang="he-IL">
                <a:solidFill>
                  <a:srgbClr val="076E66"/>
                </a:solidFill>
                <a:latin typeface="Rubik"/>
                <a:cs typeface="Rubik"/>
              </a:rPr>
              <a:t>פרדס חנה · כרכור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ing-lea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011680" y="4206240"/>
            <a:ext cx="4754880" cy="475488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4910328" y="640080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DFF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 rtl="1"/>
            <a:r>
              <a:rPr sz="1300" b="1" lang="he-IL">
                <a:solidFill>
                  <a:srgbClr val="076E66"/>
                </a:solidFill>
                <a:latin typeface="Rubik"/>
                <a:cs typeface="Rubik"/>
              </a:rPr>
              <a:t>קצת עלינו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280160"/>
            <a:ext cx="9445752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rtl="1"/>
            <a:r>
              <a:rPr sz="3000" b="1" lang="he-IL">
                <a:solidFill>
                  <a:srgbClr val="0E2F27"/>
                </a:solidFill>
                <a:latin typeface="Rubik"/>
                <a:cs typeface="Rubik"/>
              </a:rPr>
              <a:t>הת״ת הוקם לפני 8 שנים עלינו,</a:t>
            </a:r>
          </a:p>
          <a:p>
            <a:pPr algn="ctr" rtl="1"/>
            <a:r>
              <a:rPr sz="3000" b="1" lang="he-IL">
                <a:solidFill>
                  <a:srgbClr val="0E2F27"/>
                </a:solidFill>
                <a:latin typeface="Rubik"/>
                <a:cs typeface="Rubik"/>
              </a:rPr>
              <a:t>ולומדים בו כיום 112 תלמידים ב״ה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88920"/>
            <a:ext cx="944575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rtl="1"/>
            <a:r>
              <a:rPr sz="1800" b="0" lang="he-IL">
                <a:solidFill>
                  <a:srgbClr val="61746F"/>
                </a:solidFill>
                <a:latin typeface="Rubik"/>
                <a:cs typeface="Rubik"/>
              </a:rPr>
              <a:t>הת״ת מכיל 6 כיתות (א׳–ו׳)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523847" y="3703320"/>
            <a:ext cx="274320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23847" y="3867912"/>
            <a:ext cx="27432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rtl="1"/>
            <a:r>
              <a:rPr sz="4400" b="1" lang="he-IL">
                <a:solidFill>
                  <a:srgbClr val="F0672F"/>
                </a:solidFill>
                <a:latin typeface="Rubik"/>
                <a:cs typeface="Rubik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3847" y="4800600"/>
            <a:ext cx="2743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rtl="1"/>
            <a:r>
              <a:rPr sz="1500" b="1" lang="he-IL">
                <a:solidFill>
                  <a:srgbClr val="61746F"/>
                </a:solidFill>
                <a:latin typeface="Rubik"/>
                <a:cs typeface="Rubik"/>
              </a:rPr>
              <a:t>שנות פעילות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24247" y="3703320"/>
            <a:ext cx="274320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24247" y="3867912"/>
            <a:ext cx="27432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rtl="1"/>
            <a:r>
              <a:rPr sz="4400" b="1" lang="he-IL">
                <a:solidFill>
                  <a:srgbClr val="F0672F"/>
                </a:solidFill>
                <a:latin typeface="Rubik"/>
                <a:cs typeface="Rubik"/>
              </a:rPr>
              <a:t>112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24247" y="4800600"/>
            <a:ext cx="2743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rtl="1"/>
            <a:r>
              <a:rPr sz="1500" b="1" lang="he-IL">
                <a:solidFill>
                  <a:srgbClr val="61746F"/>
                </a:solidFill>
                <a:latin typeface="Rubik"/>
                <a:cs typeface="Rubik"/>
              </a:rPr>
              <a:t>תלמידים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24647" y="3703320"/>
            <a:ext cx="274320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24647" y="3867912"/>
            <a:ext cx="27432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rtl="1"/>
            <a:r>
              <a:rPr sz="4400" b="1" lang="he-IL">
                <a:solidFill>
                  <a:srgbClr val="F0672F"/>
                </a:solidFill>
                <a:latin typeface="Rubik"/>
                <a:cs typeface="Rubik"/>
              </a:rP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24647" y="4800600"/>
            <a:ext cx="2743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rtl="1"/>
            <a:r>
              <a:rPr sz="1500" b="1" lang="he-IL">
                <a:solidFill>
                  <a:srgbClr val="61746F"/>
                </a:solidFill>
                <a:latin typeface="Rubik"/>
                <a:cs typeface="Rubik"/>
              </a:rPr>
              <a:t>כיתות (א׳–ו׳)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ing-turquoi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4480560"/>
            <a:ext cx="3291840" cy="329184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4910328" y="548640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DFF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 rtl="1"/>
            <a:r>
              <a:rPr sz="1300" b="1" lang="he-IL">
                <a:solidFill>
                  <a:srgbClr val="076E66"/>
                </a:solidFill>
                <a:latin typeface="Rubik"/>
                <a:cs typeface="Rubik"/>
              </a:rPr>
              <a:t>קצת עלינו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051560"/>
            <a:ext cx="9445752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rtl="1"/>
            <a:r>
              <a:rPr sz="3400" b="1" lang="he-IL">
                <a:solidFill>
                  <a:srgbClr val="0E2F27"/>
                </a:solidFill>
                <a:latin typeface="Rubik"/>
                <a:cs typeface="Rubik"/>
              </a:rPr>
              <a:t>מה מוביל אותנו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32407" y="2148840"/>
            <a:ext cx="443484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272887" y="2715768"/>
            <a:ext cx="274320" cy="274320"/>
          </a:xfrm>
          <a:prstGeom prst="ellipse">
            <a:avLst/>
          </a:prstGeom>
          <a:solidFill>
            <a:srgbClr val="12B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706727" y="2148840"/>
            <a:ext cx="3429000" cy="1417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/>
            <a:r>
              <a:rPr sz="1900" b="1" lang="he-IL">
                <a:solidFill>
                  <a:srgbClr val="0E2F27"/>
                </a:solidFill>
                <a:latin typeface="Rubik"/>
                <a:cs typeface="Rubik"/>
              </a:rPr>
              <a:t>אהבת תורה ויראת שמיים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24447" y="2148840"/>
            <a:ext cx="443484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164927" y="2715768"/>
            <a:ext cx="274320" cy="274320"/>
          </a:xfrm>
          <a:prstGeom prst="ellipse">
            <a:avLst/>
          </a:prstGeom>
          <a:solidFill>
            <a:srgbClr val="F06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98767" y="2148840"/>
            <a:ext cx="3429000" cy="1417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/>
            <a:r>
              <a:rPr sz="1900" b="1" lang="he-IL">
                <a:solidFill>
                  <a:srgbClr val="0E2F27"/>
                </a:solidFill>
                <a:latin typeface="Rubik"/>
                <a:cs typeface="Rubik"/>
              </a:rPr>
              <a:t>לימוד תורה חי ומעניין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432407" y="3931920"/>
            <a:ext cx="443484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272887" y="4498848"/>
            <a:ext cx="274320" cy="274320"/>
          </a:xfrm>
          <a:prstGeom prst="ellipse">
            <a:avLst/>
          </a:prstGeom>
          <a:solidFill>
            <a:srgbClr val="F8C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706727" y="3931920"/>
            <a:ext cx="3429000" cy="1417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/>
            <a:r>
              <a:rPr sz="1900" b="1" lang="he-IL">
                <a:solidFill>
                  <a:srgbClr val="0E2F27"/>
                </a:solidFill>
                <a:latin typeface="Rubik"/>
                <a:cs typeface="Rubik"/>
              </a:rPr>
              <a:t>יחס אישי חם ואוהב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24447" y="3931920"/>
            <a:ext cx="443484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164927" y="4498848"/>
            <a:ext cx="274320" cy="274320"/>
          </a:xfrm>
          <a:prstGeom prst="ellipse">
            <a:avLst/>
          </a:prstGeom>
          <a:solidFill>
            <a:srgbClr val="66B0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98767" y="3931920"/>
            <a:ext cx="3429000" cy="1417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/>
            <a:r>
              <a:rPr sz="1900" b="1" lang="he-IL">
                <a:solidFill>
                  <a:srgbClr val="0E2F27"/>
                </a:solidFill>
                <a:latin typeface="Rubik"/>
                <a:cs typeface="Rubik"/>
              </a:rPr>
              <a:t>לימודי חול ברמה מקצועית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ree-motif-fai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0" y="-731520"/>
            <a:ext cx="3238500" cy="4206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71600" y="548640"/>
            <a:ext cx="9445752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rtl="1"/>
            <a:r>
              <a:rPr sz="3400" b="1" lang="he-IL">
                <a:solidFill>
                  <a:srgbClr val="FFFFFF"/>
                </a:solidFill>
                <a:latin typeface="Rubik"/>
                <a:cs typeface="Rubik"/>
              </a:rPr>
              <a:t>קצת תמונות מהשגרה...</a:t>
            </a:r>
          </a:p>
        </p:txBody>
      </p:sp>
      <p:pic>
        <p:nvPicPr>
          <p:cNvPr id="5" name="Picture 4" descr="limud-im-harav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719" y="1920240"/>
            <a:ext cx="2606040" cy="3520440"/>
          </a:xfrm>
          <a:prstGeom prst="rect">
            <a:avLst/>
          </a:prstGeom>
        </p:spPr>
      </p:pic>
      <p:pic>
        <p:nvPicPr>
          <p:cNvPr id="6" name="Picture 5" descr="limud-chevruta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1791" y="1920240"/>
            <a:ext cx="2606040" cy="3520440"/>
          </a:xfrm>
          <a:prstGeom prst="rect">
            <a:avLst/>
          </a:prstGeom>
        </p:spPr>
      </p:pic>
      <p:pic>
        <p:nvPicPr>
          <p:cNvPr id="7" name="Picture 6" descr="beit-mikdash-model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3863" y="1920240"/>
            <a:ext cx="2606040" cy="3520440"/>
          </a:xfrm>
          <a:prstGeom prst="rect">
            <a:avLst/>
          </a:prstGeom>
        </p:spPr>
      </p:pic>
      <p:pic>
        <p:nvPicPr>
          <p:cNvPr id="8" name="Picture 7" descr="nadnede-group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85935" y="1920240"/>
            <a:ext cx="2606040" cy="35204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